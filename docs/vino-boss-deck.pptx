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6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2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98755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100" b="1">
                <a:solidFill>
                  <a:srgbClr val="F3F6F8"/>
                </a:solidFill>
              </a:rPr>
              <a:t>vino 商业逻辑汇报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1783080"/>
            <a:ext cx="9875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A8B7C2"/>
                </a:solidFill>
              </a:rPr>
              <a:t>老板版 | 日期：2026-04-06 | 目标：讲清楚 `vino` 卖什么、为什么能卖、怎么赚钱、为什么现在该这样做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2743200"/>
            <a:ext cx="10332720" cy="2468880"/>
          </a:xfrm>
          <a:prstGeom prst="roundRect">
            <a:avLst/>
          </a:prstGeom>
          <a:solidFill>
            <a:srgbClr val="0C1014"/>
          </a:solidFill>
          <a:ln>
            <a:solidFill>
              <a:srgbClr val="24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03200" tIns="203200" bIns="152400">
            <a:noAutofit/>
          </a:bodyPr>
          <a:lstStyle/>
          <a:p>
            <a:pPr algn="ctr">
              <a:spcAft>
                <a:spcPts val="1000"/>
              </a:spcAft>
              <a:defRPr sz="2200" b="1">
                <a:solidFill>
                  <a:srgbClr val="62F0FF"/>
                </a:solidFill>
              </a:defRPr>
            </a:pPr>
            <a:r>
              <a:t>一句话定义：</a:t>
            </a:r>
          </a:p>
          <a:p>
            <a:pPr>
              <a:spcAft>
                <a:spcPts val="800"/>
              </a:spcAft>
              <a:defRPr sz="2400" b="0">
                <a:solidFill>
                  <a:srgbClr val="F3F6F8"/>
                </a:solidFill>
              </a:defRPr>
            </a:pPr>
            <a:r>
              <a:t>`vino` 不是一个桌面软件项目，而是一个面向工业现场的“iPhone 执行端 + 本地接收节点 + 云端业务平台”。</a:t>
            </a:r>
          </a:p>
          <a:p>
            <a:pPr>
              <a:spcAft>
                <a:spcPts val="800"/>
              </a:spcAft>
              <a:defRPr sz="2400" b="0">
                <a:solidFill>
                  <a:srgbClr val="F3F6F8"/>
                </a:solidFill>
              </a:defRPr>
            </a:pPr>
            <a:r>
              <a:t>真正要卖的不是 App 本身，而是“平台能力 + 模型能力 + 交付服务”。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326880" y="5742432"/>
            <a:ext cx="1783080" cy="384048"/>
          </a:xfrm>
          <a:prstGeom prst="roundRect">
            <a:avLst/>
          </a:prstGeom>
          <a:solidFill>
            <a:srgbClr val="55E3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50608"/>
                </a:solidFill>
              </a:rPr>
              <a:t>Boss Deck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008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A8B7C2"/>
                </a:solidFill>
              </a:rPr>
              <a:t>1/12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6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20040"/>
            <a:ext cx="11201400" cy="640080"/>
          </a:xfrm>
          <a:prstGeom prst="rect">
            <a:avLst/>
          </a:prstGeom>
          <a:solidFill>
            <a:srgbClr val="0C1014"/>
          </a:solidFill>
          <a:ln>
            <a:solidFill>
              <a:srgbClr val="24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3200" tIns="127000"/>
          <a:lstStyle/>
          <a:p>
            <a:pPr algn="l"/>
            <a:r>
              <a:rPr sz="2800" b="1">
                <a:solidFill>
                  <a:srgbClr val="F3F6F8"/>
                </a:solidFill>
              </a:rPr>
              <a:t>1. 我们到底在卖什么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234440"/>
            <a:ext cx="10972800" cy="4800600"/>
          </a:xfrm>
          <a:prstGeom prst="roundRect">
            <a:avLst/>
          </a:prstGeom>
          <a:solidFill>
            <a:srgbClr val="0C1014"/>
          </a:solidFill>
          <a:ln>
            <a:solidFill>
              <a:srgbClr val="24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03200" tIns="203200" bIns="152400">
            <a:noAutofit/>
          </a:bodyPr>
          <a:lstStyle/>
          <a:p>
            <a:pPr algn="ctr">
              <a:spcAft>
                <a:spcPts val="800"/>
              </a:spcAft>
              <a:defRPr sz="2400" b="0">
                <a:solidFill>
                  <a:srgbClr val="F3F6F8"/>
                </a:solidFill>
              </a:defRPr>
            </a:pPr>
            <a:r>
              <a:t>面向工业场景的移动视觉采集与推理系统</a:t>
            </a:r>
          </a:p>
          <a:p>
            <a:pPr>
              <a:spcAft>
                <a:spcPts val="800"/>
              </a:spcAft>
              <a:defRPr sz="2400" b="0">
                <a:solidFill>
                  <a:srgbClr val="F3F6F8"/>
                </a:solidFill>
              </a:defRPr>
            </a:pPr>
            <a:r>
              <a:t>iPhone 负责现场采集、推理、任务执行</a:t>
            </a:r>
          </a:p>
          <a:p>
            <a:pPr>
              <a:spcAft>
                <a:spcPts val="800"/>
              </a:spcAft>
              <a:defRPr sz="2400" b="0">
                <a:solidFill>
                  <a:srgbClr val="F3F6F8"/>
                </a:solidFill>
              </a:defRPr>
            </a:pPr>
            <a:r>
              <a:t>本地 Web 节点负责接收图片、视频、结果并做缓存转发</a:t>
            </a:r>
          </a:p>
          <a:p>
            <a:pPr>
              <a:spcAft>
                <a:spcPts val="800"/>
              </a:spcAft>
              <a:defRPr sz="2400" b="0">
                <a:solidFill>
                  <a:srgbClr val="F3F6F8"/>
                </a:solidFill>
              </a:defRPr>
            </a:pPr>
            <a:r>
              <a:t>云端 Web 负责账号、授权、模型售卖、项目管理和结果查看</a:t>
            </a:r>
          </a:p>
          <a:p>
            <a:pPr>
              <a:spcAft>
                <a:spcPts val="800"/>
              </a:spcAft>
              <a:defRPr sz="2400" b="0">
                <a:solidFill>
                  <a:srgbClr val="F3F6F8"/>
                </a:solidFill>
              </a:defRPr>
            </a:pPr>
            <a:r>
              <a:t>商业本质是：`工业视觉平台 + 模型授权 + 服务交付`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008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A8B7C2"/>
                </a:solidFill>
              </a:rPr>
              <a:t>2/12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6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20040"/>
            <a:ext cx="11201400" cy="640080"/>
          </a:xfrm>
          <a:prstGeom prst="rect">
            <a:avLst/>
          </a:prstGeom>
          <a:solidFill>
            <a:srgbClr val="0C1014"/>
          </a:solidFill>
          <a:ln>
            <a:solidFill>
              <a:srgbClr val="24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3200" tIns="127000"/>
          <a:lstStyle/>
          <a:p>
            <a:pPr algn="l"/>
            <a:r>
              <a:rPr sz="2800" b="1">
                <a:solidFill>
                  <a:srgbClr val="F3F6F8"/>
                </a:solidFill>
              </a:rPr>
              <a:t>2. 客户为什么会买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234440"/>
            <a:ext cx="10972800" cy="4800600"/>
          </a:xfrm>
          <a:prstGeom prst="roundRect">
            <a:avLst/>
          </a:prstGeom>
          <a:solidFill>
            <a:srgbClr val="0C1014"/>
          </a:solidFill>
          <a:ln>
            <a:solidFill>
              <a:srgbClr val="24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03200" tIns="203200" bIns="152400">
            <a:noAutofit/>
          </a:bodyPr>
          <a:lstStyle/>
          <a:p>
            <a:pPr algn="ctr">
              <a:spcAft>
                <a:spcPts val="800"/>
              </a:spcAft>
              <a:defRPr sz="2400" b="0">
                <a:solidFill>
                  <a:srgbClr val="F3F6F8"/>
                </a:solidFill>
              </a:defRPr>
            </a:pPr>
            <a:r>
              <a:t>现场客户需要低成本、低门槛的视觉采集和推理能力</a:t>
            </a:r>
          </a:p>
          <a:p>
            <a:pPr>
              <a:spcAft>
                <a:spcPts val="800"/>
              </a:spcAft>
              <a:defRPr sz="2400" b="0">
                <a:solidFill>
                  <a:srgbClr val="F3F6F8"/>
                </a:solidFill>
              </a:defRPr>
            </a:pPr>
            <a:r>
              <a:t>传统工业相机 + 工控机 + 本地软件的部署成本高、迭代慢</a:t>
            </a:r>
          </a:p>
          <a:p>
            <a:pPr>
              <a:spcAft>
                <a:spcPts val="800"/>
              </a:spcAft>
              <a:defRPr sz="2400" b="0">
                <a:solidFill>
                  <a:srgbClr val="F3F6F8"/>
                </a:solidFill>
              </a:defRPr>
            </a:pPr>
            <a:r>
              <a:t>纯云方案不适合现场网络不稳定、对时延敏感的环境</a:t>
            </a:r>
          </a:p>
          <a:p>
            <a:pPr>
              <a:spcAft>
                <a:spcPts val="800"/>
              </a:spcAft>
              <a:defRPr sz="2400" b="0">
                <a:solidFill>
                  <a:srgbClr val="F3F6F8"/>
                </a:solidFill>
              </a:defRPr>
            </a:pPr>
            <a:r>
              <a:t>纯本地方案又难以统一管理、授权和升级</a:t>
            </a:r>
          </a:p>
          <a:p>
            <a:pPr>
              <a:spcAft>
                <a:spcPts val="800"/>
              </a:spcAft>
              <a:defRPr sz="2400" b="0">
                <a:solidFill>
                  <a:srgbClr val="F3F6F8"/>
                </a:solidFill>
              </a:defRPr>
            </a:pPr>
            <a:r>
              <a:t>`vino` 把“现场可用”和“平台化管理”结合到了一起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008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A8B7C2"/>
                </a:solidFill>
              </a:rPr>
              <a:t>3/12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6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20040"/>
            <a:ext cx="11201400" cy="640080"/>
          </a:xfrm>
          <a:prstGeom prst="rect">
            <a:avLst/>
          </a:prstGeom>
          <a:solidFill>
            <a:srgbClr val="0C1014"/>
          </a:solidFill>
          <a:ln>
            <a:solidFill>
              <a:srgbClr val="24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3200" tIns="127000"/>
          <a:lstStyle/>
          <a:p>
            <a:pPr algn="l"/>
            <a:r>
              <a:rPr sz="2800" b="1">
                <a:solidFill>
                  <a:srgbClr val="F3F6F8"/>
                </a:solidFill>
              </a:rPr>
              <a:t>3. 产品形态为什么要这样收敛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234440"/>
            <a:ext cx="10972800" cy="4800600"/>
          </a:xfrm>
          <a:prstGeom prst="roundRect">
            <a:avLst/>
          </a:prstGeom>
          <a:solidFill>
            <a:srgbClr val="0C1014"/>
          </a:solidFill>
          <a:ln>
            <a:solidFill>
              <a:srgbClr val="24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03200" tIns="203200" bIns="152400">
            <a:noAutofit/>
          </a:bodyPr>
          <a:lstStyle/>
          <a:p>
            <a:pPr algn="ctr">
              <a:spcAft>
                <a:spcPts val="800"/>
              </a:spcAft>
              <a:defRPr sz="2400" b="0">
                <a:solidFill>
                  <a:srgbClr val="F3F6F8"/>
                </a:solidFill>
              </a:defRPr>
            </a:pPr>
            <a:r>
              <a:t>`Desktop` 不是必须的商业核心</a:t>
            </a:r>
          </a:p>
          <a:p>
            <a:pPr>
              <a:spcAft>
                <a:spcPts val="800"/>
              </a:spcAft>
              <a:defRPr sz="2400" b="0">
                <a:solidFill>
                  <a:srgbClr val="F3F6F8"/>
                </a:solidFill>
              </a:defRPr>
            </a:pPr>
            <a:r>
              <a:t>真正关键的是：</a:t>
            </a:r>
          </a:p>
          <a:p>
            <a:pPr lvl="1">
              <a:spcAft>
                <a:spcPts val="800"/>
              </a:spcAft>
              <a:defRPr sz="2000" b="0">
                <a:solidFill>
                  <a:srgbClr val="A8B7C2"/>
                </a:solidFill>
              </a:defRPr>
            </a:pPr>
            <a:r>
              <a:t>iPhone 能执行</a:t>
            </a:r>
          </a:p>
          <a:p>
            <a:pPr lvl="1">
              <a:spcAft>
                <a:spcPts val="800"/>
              </a:spcAft>
              <a:defRPr sz="2000" b="0">
                <a:solidFill>
                  <a:srgbClr val="A8B7C2"/>
                </a:solidFill>
              </a:defRPr>
            </a:pPr>
            <a:r>
              <a:t>本地节点能稳定收数据</a:t>
            </a:r>
          </a:p>
          <a:p>
            <a:pPr lvl="1">
              <a:spcAft>
                <a:spcPts val="800"/>
              </a:spcAft>
              <a:defRPr sz="2000" b="0">
                <a:solidFill>
                  <a:srgbClr val="A8B7C2"/>
                </a:solidFill>
              </a:defRPr>
            </a:pPr>
            <a:r>
              <a:t>云端能做业务管理和授权</a:t>
            </a:r>
          </a:p>
          <a:p>
            <a:pPr>
              <a:spcAft>
                <a:spcPts val="800"/>
              </a:spcAft>
              <a:defRPr sz="2400" b="0">
                <a:solidFill>
                  <a:srgbClr val="F3F6F8"/>
                </a:solidFill>
              </a:defRPr>
            </a:pPr>
            <a:r>
              <a:t>这样产品更轻、更容易卖、更适合规模化</a:t>
            </a:r>
          </a:p>
          <a:p>
            <a:pPr>
              <a:spcAft>
                <a:spcPts val="800"/>
              </a:spcAft>
              <a:defRPr sz="2400" b="0">
                <a:solidFill>
                  <a:srgbClr val="F3F6F8"/>
                </a:solidFill>
              </a:defRPr>
            </a:pPr>
            <a:r>
              <a:t>`Desktop` 最多保留为内部调试或大客户运维工具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008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A8B7C2"/>
                </a:solidFill>
              </a:rPr>
              <a:t>4/12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6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20040"/>
            <a:ext cx="11201400" cy="640080"/>
          </a:xfrm>
          <a:prstGeom prst="rect">
            <a:avLst/>
          </a:prstGeom>
          <a:solidFill>
            <a:srgbClr val="0C1014"/>
          </a:solidFill>
          <a:ln>
            <a:solidFill>
              <a:srgbClr val="24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3200" tIns="127000"/>
          <a:lstStyle/>
          <a:p>
            <a:pPr algn="l"/>
            <a:r>
              <a:rPr sz="2800" b="1">
                <a:solidFill>
                  <a:srgbClr val="F3F6F8"/>
                </a:solidFill>
              </a:rPr>
              <a:t>4. 业务闭环怎么跑通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234440"/>
            <a:ext cx="10972800" cy="4800600"/>
          </a:xfrm>
          <a:prstGeom prst="roundRect">
            <a:avLst/>
          </a:prstGeom>
          <a:solidFill>
            <a:srgbClr val="0C1014"/>
          </a:solidFill>
          <a:ln>
            <a:solidFill>
              <a:srgbClr val="24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03200" tIns="203200" bIns="152400">
            <a:noAutofit/>
          </a:bodyPr>
          <a:lstStyle/>
          <a:p>
            <a:pPr algn="ctr">
              <a:spcAft>
                <a:spcPts val="800"/>
              </a:spcAft>
              <a:defRPr sz="2400" b="0">
                <a:solidFill>
                  <a:srgbClr val="F3F6F8"/>
                </a:solidFill>
              </a:defRPr>
            </a:pPr>
            <a:r>
              <a:t>第一步：客户在云端后台购买平台和模型授权</a:t>
            </a:r>
          </a:p>
          <a:p>
            <a:pPr>
              <a:spcAft>
                <a:spcPts val="800"/>
              </a:spcAft>
              <a:defRPr sz="2400" b="0">
                <a:solidFill>
                  <a:srgbClr val="F3F6F8"/>
                </a:solidFill>
              </a:defRPr>
            </a:pPr>
            <a:r>
              <a:t>第二步：账号登录 iPhone，下载已授权模型</a:t>
            </a:r>
          </a:p>
          <a:p>
            <a:pPr>
              <a:spcAft>
                <a:spcPts val="800"/>
              </a:spcAft>
              <a:defRPr sz="2400" b="0">
                <a:solidFill>
                  <a:srgbClr val="F3F6F8"/>
                </a:solidFill>
              </a:defRPr>
            </a:pPr>
            <a:r>
              <a:t>第三步：iPhone 在现场执行采图、录制、推理</a:t>
            </a:r>
          </a:p>
          <a:p>
            <a:pPr>
              <a:spcAft>
                <a:spcPts val="800"/>
              </a:spcAft>
              <a:defRPr sz="2400" b="0">
                <a:solidFill>
                  <a:srgbClr val="F3F6F8"/>
                </a:solidFill>
              </a:defRPr>
            </a:pPr>
            <a:r>
              <a:t>第四步：数据先进入本地 Web 节点，保证现场稳定接收</a:t>
            </a:r>
          </a:p>
          <a:p>
            <a:pPr>
              <a:spcAft>
                <a:spcPts val="800"/>
              </a:spcAft>
              <a:defRPr sz="2400" b="0">
                <a:solidFill>
                  <a:srgbClr val="F3F6F8"/>
                </a:solidFill>
              </a:defRPr>
            </a:pPr>
            <a:r>
              <a:t>第五步：本地节点再把数据补传到云端</a:t>
            </a:r>
          </a:p>
          <a:p>
            <a:pPr>
              <a:spcAft>
                <a:spcPts val="800"/>
              </a:spcAft>
              <a:defRPr sz="2400" b="0">
                <a:solidFill>
                  <a:srgbClr val="F3F6F8"/>
                </a:solidFill>
              </a:defRPr>
            </a:pPr>
            <a:r>
              <a:t>第六步：客户在云端查看项目、结果、设备和报表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008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A8B7C2"/>
                </a:solidFill>
              </a:rPr>
              <a:t>5/12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6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20040"/>
            <a:ext cx="11201400" cy="640080"/>
          </a:xfrm>
          <a:prstGeom prst="rect">
            <a:avLst/>
          </a:prstGeom>
          <a:solidFill>
            <a:srgbClr val="0C1014"/>
          </a:solidFill>
          <a:ln>
            <a:solidFill>
              <a:srgbClr val="24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3200" tIns="127000"/>
          <a:lstStyle/>
          <a:p>
            <a:pPr algn="l"/>
            <a:r>
              <a:rPr sz="2800" b="1">
                <a:solidFill>
                  <a:srgbClr val="F3F6F8"/>
                </a:solidFill>
              </a:rPr>
              <a:t>5. 我们怎么赚钱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234440"/>
            <a:ext cx="10972800" cy="4800600"/>
          </a:xfrm>
          <a:prstGeom prst="roundRect">
            <a:avLst/>
          </a:prstGeom>
          <a:solidFill>
            <a:srgbClr val="0C1014"/>
          </a:solidFill>
          <a:ln>
            <a:solidFill>
              <a:srgbClr val="24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03200" tIns="203200" bIns="152400">
            <a:noAutofit/>
          </a:bodyPr>
          <a:lstStyle/>
          <a:p>
            <a:pPr algn="ctr">
              <a:spcAft>
                <a:spcPts val="800"/>
              </a:spcAft>
              <a:defRPr sz="2400" b="0">
                <a:solidFill>
                  <a:srgbClr val="F3F6F8"/>
                </a:solidFill>
              </a:defRPr>
            </a:pPr>
            <a:r>
              <a:t>平台费</a:t>
            </a:r>
          </a:p>
          <a:p>
            <a:pPr lvl="1">
              <a:spcAft>
                <a:spcPts val="800"/>
              </a:spcAft>
              <a:defRPr sz="2000" b="0">
                <a:solidFill>
                  <a:srgbClr val="A8B7C2"/>
                </a:solidFill>
              </a:defRPr>
            </a:pPr>
            <a:r>
              <a:t>按组织、站点、设备席位或年费收费</a:t>
            </a:r>
          </a:p>
          <a:p>
            <a:pPr>
              <a:spcAft>
                <a:spcPts val="800"/>
              </a:spcAft>
              <a:defRPr sz="2400" b="0">
                <a:solidFill>
                  <a:srgbClr val="F3F6F8"/>
                </a:solidFill>
              </a:defRPr>
            </a:pPr>
            <a:r>
              <a:t>模型费</a:t>
            </a:r>
          </a:p>
          <a:p>
            <a:pPr lvl="1">
              <a:spcAft>
                <a:spcPts val="800"/>
              </a:spcAft>
              <a:defRPr sz="2000" b="0">
                <a:solidFill>
                  <a:srgbClr val="A8B7C2"/>
                </a:solidFill>
              </a:defRPr>
            </a:pPr>
            <a:r>
              <a:t>通用模型</a:t>
            </a:r>
          </a:p>
          <a:p>
            <a:pPr lvl="1">
              <a:spcAft>
                <a:spcPts val="800"/>
              </a:spcAft>
              <a:defRPr sz="2000" b="0">
                <a:solidFill>
                  <a:srgbClr val="A8B7C2"/>
                </a:solidFill>
              </a:defRPr>
            </a:pPr>
            <a:r>
              <a:t>行业模型</a:t>
            </a:r>
          </a:p>
          <a:p>
            <a:pPr lvl="1">
              <a:spcAft>
                <a:spcPts val="800"/>
              </a:spcAft>
              <a:defRPr sz="2000" b="0">
                <a:solidFill>
                  <a:srgbClr val="A8B7C2"/>
                </a:solidFill>
              </a:defRPr>
            </a:pPr>
            <a:r>
              <a:t>定制模型</a:t>
            </a:r>
          </a:p>
          <a:p>
            <a:pPr>
              <a:spcAft>
                <a:spcPts val="800"/>
              </a:spcAft>
              <a:defRPr sz="2400" b="0">
                <a:solidFill>
                  <a:srgbClr val="F3F6F8"/>
                </a:solidFill>
              </a:defRPr>
            </a:pPr>
            <a:r>
              <a:t>服务费</a:t>
            </a:r>
          </a:p>
          <a:p>
            <a:pPr lvl="1">
              <a:spcAft>
                <a:spcPts val="800"/>
              </a:spcAft>
              <a:defRPr sz="2000" b="0">
                <a:solidFill>
                  <a:srgbClr val="A8B7C2"/>
                </a:solidFill>
              </a:defRPr>
            </a:pPr>
            <a:r>
              <a:t>部署实施</a:t>
            </a:r>
          </a:p>
          <a:p>
            <a:pPr lvl="1">
              <a:spcAft>
                <a:spcPts val="800"/>
              </a:spcAft>
              <a:defRPr sz="2000" b="0">
                <a:solidFill>
                  <a:srgbClr val="A8B7C2"/>
                </a:solidFill>
              </a:defRPr>
            </a:pPr>
            <a:r>
              <a:t>调参优化</a:t>
            </a:r>
          </a:p>
          <a:p>
            <a:pPr lvl="1">
              <a:spcAft>
                <a:spcPts val="800"/>
              </a:spcAft>
              <a:defRPr sz="2000" b="0">
                <a:solidFill>
                  <a:srgbClr val="A8B7C2"/>
                </a:solidFill>
              </a:defRPr>
            </a:pPr>
            <a:r>
              <a:t>定制训练</a:t>
            </a:r>
          </a:p>
          <a:p>
            <a:pPr lvl="1">
              <a:spcAft>
                <a:spcPts val="800"/>
              </a:spcAft>
              <a:defRPr sz="2000" b="0">
                <a:solidFill>
                  <a:srgbClr val="A8B7C2"/>
                </a:solidFill>
              </a:defRPr>
            </a:pPr>
            <a:r>
              <a:t>售后支持 / SLA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008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A8B7C2"/>
                </a:solidFill>
              </a:rPr>
              <a:t>6/12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6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20040"/>
            <a:ext cx="11201400" cy="640080"/>
          </a:xfrm>
          <a:prstGeom prst="rect">
            <a:avLst/>
          </a:prstGeom>
          <a:solidFill>
            <a:srgbClr val="0C1014"/>
          </a:solidFill>
          <a:ln>
            <a:solidFill>
              <a:srgbClr val="24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3200" tIns="127000"/>
          <a:lstStyle/>
          <a:p>
            <a:pPr algn="l"/>
            <a:r>
              <a:rPr sz="2800" b="1">
                <a:solidFill>
                  <a:srgbClr val="F3F6F8"/>
                </a:solidFill>
              </a:rPr>
              <a:t>6. 授权应该怎么卖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234440"/>
            <a:ext cx="10972800" cy="4800600"/>
          </a:xfrm>
          <a:prstGeom prst="roundRect">
            <a:avLst/>
          </a:prstGeom>
          <a:solidFill>
            <a:srgbClr val="0C1014"/>
          </a:solidFill>
          <a:ln>
            <a:solidFill>
              <a:srgbClr val="24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03200" tIns="203200" bIns="152400">
            <a:noAutofit/>
          </a:bodyPr>
          <a:lstStyle/>
          <a:p>
            <a:pPr algn="ctr">
              <a:spcAft>
                <a:spcPts val="800"/>
              </a:spcAft>
              <a:defRPr sz="2400" b="0">
                <a:solidFill>
                  <a:srgbClr val="F3F6F8"/>
                </a:solidFill>
              </a:defRPr>
            </a:pPr>
            <a:r>
              <a:t>不建议只卖“账号权限”</a:t>
            </a:r>
          </a:p>
          <a:p>
            <a:pPr>
              <a:spcAft>
                <a:spcPts val="800"/>
              </a:spcAft>
              <a:defRPr sz="2400" b="0">
                <a:solidFill>
                  <a:srgbClr val="F3F6F8"/>
                </a:solidFill>
              </a:defRPr>
            </a:pPr>
            <a:r>
              <a:t>建议按四个维度授权：</a:t>
            </a:r>
          </a:p>
          <a:p>
            <a:pPr lvl="1">
              <a:spcAft>
                <a:spcPts val="800"/>
              </a:spcAft>
              <a:defRPr sz="2000" b="0">
                <a:solidFill>
                  <a:srgbClr val="A8B7C2"/>
                </a:solidFill>
              </a:defRPr>
            </a:pPr>
            <a:r>
              <a:t>组织</a:t>
            </a:r>
          </a:p>
          <a:p>
            <a:pPr lvl="1">
              <a:spcAft>
                <a:spcPts val="800"/>
              </a:spcAft>
              <a:defRPr sz="2000" b="0">
                <a:solidFill>
                  <a:srgbClr val="A8B7C2"/>
                </a:solidFill>
              </a:defRPr>
            </a:pPr>
            <a:r>
              <a:t>设备</a:t>
            </a:r>
          </a:p>
          <a:p>
            <a:pPr lvl="1">
              <a:spcAft>
                <a:spcPts val="800"/>
              </a:spcAft>
              <a:defRPr sz="2000" b="0">
                <a:solidFill>
                  <a:srgbClr val="A8B7C2"/>
                </a:solidFill>
              </a:defRPr>
            </a:pPr>
            <a:r>
              <a:t>模型</a:t>
            </a:r>
          </a:p>
          <a:p>
            <a:pPr lvl="1">
              <a:spcAft>
                <a:spcPts val="800"/>
              </a:spcAft>
              <a:defRPr sz="2000" b="0">
                <a:solidFill>
                  <a:srgbClr val="A8B7C2"/>
                </a:solidFill>
              </a:defRPr>
            </a:pPr>
            <a:r>
              <a:t>时间</a:t>
            </a:r>
          </a:p>
          <a:p>
            <a:pPr>
              <a:spcAft>
                <a:spcPts val="800"/>
              </a:spcAft>
              <a:defRPr sz="2400" b="0">
                <a:solidFill>
                  <a:srgbClr val="F3F6F8"/>
                </a:solidFill>
              </a:defRPr>
            </a:pPr>
            <a:r>
              <a:t>可售卖的授权形态：</a:t>
            </a:r>
          </a:p>
          <a:p>
            <a:pPr lvl="1">
              <a:spcAft>
                <a:spcPts val="800"/>
              </a:spcAft>
              <a:defRPr sz="2000" b="0">
                <a:solidFill>
                  <a:srgbClr val="A8B7C2"/>
                </a:solidFill>
              </a:defRPr>
            </a:pPr>
            <a:r>
              <a:t>年费订阅</a:t>
            </a:r>
          </a:p>
          <a:p>
            <a:pPr lvl="1">
              <a:spcAft>
                <a:spcPts val="800"/>
              </a:spcAft>
              <a:defRPr sz="2000" b="0">
                <a:solidFill>
                  <a:srgbClr val="A8B7C2"/>
                </a:solidFill>
              </a:defRPr>
            </a:pPr>
            <a:r>
              <a:t>项目期授权</a:t>
            </a:r>
          </a:p>
          <a:p>
            <a:pPr lvl="1">
              <a:spcAft>
                <a:spcPts val="800"/>
              </a:spcAft>
              <a:defRPr sz="2000" b="0">
                <a:solidFill>
                  <a:srgbClr val="A8B7C2"/>
                </a:solidFill>
              </a:defRPr>
            </a:pPr>
            <a:r>
              <a:t>永久授权 + 年维护</a:t>
            </a:r>
          </a:p>
          <a:p>
            <a:pPr lvl="1">
              <a:spcAft>
                <a:spcPts val="800"/>
              </a:spcAft>
              <a:defRPr sz="2000" b="0">
                <a:solidFill>
                  <a:srgbClr val="A8B7C2"/>
                </a:solidFill>
              </a:defRPr>
            </a:pPr>
            <a:r>
              <a:t>站点授权 / 设备包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008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A8B7C2"/>
                </a:solidFill>
              </a:rPr>
              <a:t>7/12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6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20040"/>
            <a:ext cx="11201400" cy="640080"/>
          </a:xfrm>
          <a:prstGeom prst="rect">
            <a:avLst/>
          </a:prstGeom>
          <a:solidFill>
            <a:srgbClr val="0C1014"/>
          </a:solidFill>
          <a:ln>
            <a:solidFill>
              <a:srgbClr val="24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3200" tIns="127000"/>
          <a:lstStyle/>
          <a:p>
            <a:pPr algn="l"/>
            <a:r>
              <a:rPr sz="2800" b="1">
                <a:solidFill>
                  <a:srgbClr val="F3F6F8"/>
                </a:solidFill>
              </a:rPr>
              <a:t>7. 为什么“本地接收 + 云端业务”更有商业价值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234440"/>
            <a:ext cx="10972800" cy="4800600"/>
          </a:xfrm>
          <a:prstGeom prst="roundRect">
            <a:avLst/>
          </a:prstGeom>
          <a:solidFill>
            <a:srgbClr val="0C1014"/>
          </a:solidFill>
          <a:ln>
            <a:solidFill>
              <a:srgbClr val="24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03200" tIns="203200" bIns="152400">
            <a:noAutofit/>
          </a:bodyPr>
          <a:lstStyle/>
          <a:p>
            <a:pPr algn="ctr">
              <a:spcAft>
                <a:spcPts val="800"/>
              </a:spcAft>
              <a:defRPr sz="2400" b="0">
                <a:solidFill>
                  <a:srgbClr val="F3F6F8"/>
                </a:solidFill>
              </a:defRPr>
            </a:pPr>
            <a:r>
              <a:t>更容易落地到真实工业现场</a:t>
            </a:r>
          </a:p>
          <a:p>
            <a:pPr>
              <a:spcAft>
                <a:spcPts val="800"/>
              </a:spcAft>
              <a:defRPr sz="2400" b="0">
                <a:solidFill>
                  <a:srgbClr val="F3F6F8"/>
                </a:solidFill>
              </a:defRPr>
            </a:pPr>
            <a:r>
              <a:t>对客户更有说服力：断网也能先收，联网后再同步</a:t>
            </a:r>
          </a:p>
          <a:p>
            <a:pPr>
              <a:spcAft>
                <a:spcPts val="800"/>
              </a:spcAft>
              <a:defRPr sz="2400" b="0">
                <a:solidFill>
                  <a:srgbClr val="F3F6F8"/>
                </a:solidFill>
              </a:defRPr>
            </a:pPr>
            <a:r>
              <a:t>平台能力放在云端，便于持续收费和统一运营</a:t>
            </a:r>
          </a:p>
          <a:p>
            <a:pPr>
              <a:spcAft>
                <a:spcPts val="800"/>
              </a:spcAft>
              <a:defRPr sz="2400" b="0">
                <a:solidFill>
                  <a:srgbClr val="F3F6F8"/>
                </a:solidFill>
              </a:defRPr>
            </a:pPr>
            <a:r>
              <a:t>本地节点增强交付稳定性，降低现场出问题的概率</a:t>
            </a:r>
          </a:p>
          <a:p>
            <a:pPr>
              <a:spcAft>
                <a:spcPts val="800"/>
              </a:spcAft>
              <a:defRPr sz="2400" b="0">
                <a:solidFill>
                  <a:srgbClr val="F3F6F8"/>
                </a:solidFill>
              </a:defRPr>
            </a:pPr>
            <a:r>
              <a:t>这条路线既能做标准化产品，也能接高客单的项目型收入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008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A8B7C2"/>
                </a:solidFill>
              </a:rPr>
              <a:t>8/12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6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20040"/>
            <a:ext cx="11201400" cy="640080"/>
          </a:xfrm>
          <a:prstGeom prst="rect">
            <a:avLst/>
          </a:prstGeom>
          <a:solidFill>
            <a:srgbClr val="0C1014"/>
          </a:solidFill>
          <a:ln>
            <a:solidFill>
              <a:srgbClr val="24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3200" tIns="127000"/>
          <a:lstStyle/>
          <a:p>
            <a:pPr algn="l"/>
            <a:r>
              <a:rPr sz="2800" b="1">
                <a:solidFill>
                  <a:srgbClr val="F3F6F8"/>
                </a:solidFill>
              </a:rPr>
              <a:t>8. 关键风险与边界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234440"/>
            <a:ext cx="10972800" cy="4800600"/>
          </a:xfrm>
          <a:prstGeom prst="roundRect">
            <a:avLst/>
          </a:prstGeom>
          <a:solidFill>
            <a:srgbClr val="0C1014"/>
          </a:solidFill>
          <a:ln>
            <a:solidFill>
              <a:srgbClr val="24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03200" tIns="203200" bIns="152400">
            <a:noAutofit/>
          </a:bodyPr>
          <a:lstStyle/>
          <a:p>
            <a:pPr algn="ctr">
              <a:spcAft>
                <a:spcPts val="800"/>
              </a:spcAft>
              <a:defRPr sz="2400" b="0">
                <a:solidFill>
                  <a:srgbClr val="F3F6F8"/>
                </a:solidFill>
              </a:defRPr>
            </a:pPr>
            <a:r>
              <a:t>App Store 对外部购买后在 App 内使用仍有审核边界</a:t>
            </a:r>
          </a:p>
          <a:p>
            <a:pPr>
              <a:spcAft>
                <a:spcPts val="800"/>
              </a:spcAft>
              <a:defRPr sz="2400" b="0">
                <a:solidFill>
                  <a:srgbClr val="F3F6F8"/>
                </a:solidFill>
              </a:defRPr>
            </a:pPr>
            <a:r>
              <a:t>模型离线使用必须有授权与续期逻辑，不能无限离线</a:t>
            </a:r>
          </a:p>
          <a:p>
            <a:pPr>
              <a:spcAft>
                <a:spcPts val="800"/>
              </a:spcAft>
              <a:defRPr sz="2400" b="0">
                <a:solidFill>
                  <a:srgbClr val="F3F6F8"/>
                </a:solidFill>
              </a:defRPr>
            </a:pPr>
            <a:r>
              <a:t>本地节点与云端之间需要可靠的补传和幂等</a:t>
            </a:r>
          </a:p>
          <a:p>
            <a:pPr>
              <a:spcAft>
                <a:spcPts val="800"/>
              </a:spcAft>
              <a:defRPr sz="2400" b="0">
                <a:solidFill>
                  <a:srgbClr val="F3F6F8"/>
                </a:solidFill>
              </a:defRPr>
            </a:pPr>
            <a:r>
              <a:t>模型可以做强保护，但做不到绝对防拷贝</a:t>
            </a:r>
          </a:p>
          <a:p>
            <a:pPr>
              <a:spcAft>
                <a:spcPts val="800"/>
              </a:spcAft>
              <a:defRPr sz="2400" b="0">
                <a:solidFill>
                  <a:srgbClr val="F3F6F8"/>
                </a:solidFill>
              </a:defRPr>
            </a:pPr>
            <a:r>
              <a:t>所以产品定位必须坚持 B2B 工具，而不是消费型模型商城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008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A8B7C2"/>
                </a:solidFill>
              </a:rPr>
              <a:t>9/12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6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20040"/>
            <a:ext cx="11201400" cy="640080"/>
          </a:xfrm>
          <a:prstGeom prst="rect">
            <a:avLst/>
          </a:prstGeom>
          <a:solidFill>
            <a:srgbClr val="0C1014"/>
          </a:solidFill>
          <a:ln>
            <a:solidFill>
              <a:srgbClr val="24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3200" tIns="127000"/>
          <a:lstStyle/>
          <a:p>
            <a:pPr algn="l"/>
            <a:r>
              <a:rPr sz="2800" b="1">
                <a:solidFill>
                  <a:srgbClr val="F3F6F8"/>
                </a:solidFill>
              </a:rPr>
              <a:t>9. 这件事的老板视角价值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234440"/>
            <a:ext cx="10972800" cy="4800600"/>
          </a:xfrm>
          <a:prstGeom prst="roundRect">
            <a:avLst/>
          </a:prstGeom>
          <a:solidFill>
            <a:srgbClr val="0C1014"/>
          </a:solidFill>
          <a:ln>
            <a:solidFill>
              <a:srgbClr val="24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03200" tIns="203200" bIns="152400">
            <a:noAutofit/>
          </a:bodyPr>
          <a:lstStyle/>
          <a:p>
            <a:pPr algn="ctr">
              <a:spcAft>
                <a:spcPts val="800"/>
              </a:spcAft>
              <a:defRPr sz="2400" b="0">
                <a:solidFill>
                  <a:srgbClr val="F3F6F8"/>
                </a:solidFill>
              </a:defRPr>
            </a:pPr>
            <a:r>
              <a:t>它不是单次项目，而是有机会形成平台收入</a:t>
            </a:r>
          </a:p>
          <a:p>
            <a:pPr>
              <a:spcAft>
                <a:spcPts val="800"/>
              </a:spcAft>
              <a:defRPr sz="2400" b="0">
                <a:solidFill>
                  <a:srgbClr val="F3F6F8"/>
                </a:solidFill>
              </a:defRPr>
            </a:pPr>
            <a:r>
              <a:t>它不是只卖软件，而是“平台 + 模型 + 服务”的复合收入</a:t>
            </a:r>
          </a:p>
          <a:p>
            <a:pPr>
              <a:spcAft>
                <a:spcPts val="800"/>
              </a:spcAft>
              <a:defRPr sz="2400" b="0">
                <a:solidFill>
                  <a:srgbClr val="F3F6F8"/>
                </a:solidFill>
              </a:defRPr>
            </a:pPr>
            <a:r>
              <a:t>它不是只能做一个行业，后续可以扩多个模型场景</a:t>
            </a:r>
          </a:p>
          <a:p>
            <a:pPr>
              <a:spcAft>
                <a:spcPts val="800"/>
              </a:spcAft>
              <a:defRPr sz="2400" b="0">
                <a:solidFill>
                  <a:srgbClr val="F3F6F8"/>
                </a:solidFill>
              </a:defRPr>
            </a:pPr>
            <a:r>
              <a:t>它的关键护城河不只是代码，而是：</a:t>
            </a:r>
          </a:p>
          <a:p>
            <a:pPr lvl="1">
              <a:spcAft>
                <a:spcPts val="800"/>
              </a:spcAft>
              <a:defRPr sz="2000" b="0">
                <a:solidFill>
                  <a:srgbClr val="A8B7C2"/>
                </a:solidFill>
              </a:defRPr>
            </a:pPr>
            <a:r>
              <a:t>授权体系</a:t>
            </a:r>
          </a:p>
          <a:p>
            <a:pPr lvl="1">
              <a:spcAft>
                <a:spcPts val="800"/>
              </a:spcAft>
              <a:defRPr sz="2000" b="0">
                <a:solidFill>
                  <a:srgbClr val="A8B7C2"/>
                </a:solidFill>
              </a:defRPr>
            </a:pPr>
            <a:r>
              <a:t>交付能力</a:t>
            </a:r>
          </a:p>
          <a:p>
            <a:pPr lvl="1">
              <a:spcAft>
                <a:spcPts val="800"/>
              </a:spcAft>
              <a:defRPr sz="2000" b="0">
                <a:solidFill>
                  <a:srgbClr val="A8B7C2"/>
                </a:solidFill>
              </a:defRPr>
            </a:pPr>
            <a:r>
              <a:t>行业模型</a:t>
            </a:r>
          </a:p>
          <a:p>
            <a:pPr lvl="1">
              <a:spcAft>
                <a:spcPts val="800"/>
              </a:spcAft>
              <a:defRPr sz="2000" b="0">
                <a:solidFill>
                  <a:srgbClr val="A8B7C2"/>
                </a:solidFill>
              </a:defRPr>
            </a:pPr>
            <a:r>
              <a:t>数据闭环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008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A8B7C2"/>
                </a:solidFill>
              </a:rPr>
              <a:t>10/12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6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20040"/>
            <a:ext cx="11201400" cy="640080"/>
          </a:xfrm>
          <a:prstGeom prst="rect">
            <a:avLst/>
          </a:prstGeom>
          <a:solidFill>
            <a:srgbClr val="0C1014"/>
          </a:solidFill>
          <a:ln>
            <a:solidFill>
              <a:srgbClr val="24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3200" tIns="127000"/>
          <a:lstStyle/>
          <a:p>
            <a:pPr algn="l"/>
            <a:r>
              <a:rPr sz="2800" b="1">
                <a:solidFill>
                  <a:srgbClr val="F3F6F8"/>
                </a:solidFill>
              </a:rPr>
              <a:t>10. 现在最需要拍板的事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234440"/>
            <a:ext cx="10972800" cy="4800600"/>
          </a:xfrm>
          <a:prstGeom prst="roundRect">
            <a:avLst/>
          </a:prstGeom>
          <a:solidFill>
            <a:srgbClr val="0C1014"/>
          </a:solidFill>
          <a:ln>
            <a:solidFill>
              <a:srgbClr val="24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03200" tIns="203200" bIns="152400">
            <a:noAutofit/>
          </a:bodyPr>
          <a:lstStyle/>
          <a:p>
            <a:pPr algn="ctr">
              <a:spcAft>
                <a:spcPts val="800"/>
              </a:spcAft>
              <a:defRPr sz="2400" b="0">
                <a:solidFill>
                  <a:srgbClr val="F3F6F8"/>
                </a:solidFill>
              </a:defRPr>
            </a:pPr>
            <a:r>
              <a:t>是否正式放弃把 `Desktop` 作为对外主产品</a:t>
            </a:r>
          </a:p>
          <a:p>
            <a:pPr>
              <a:spcAft>
                <a:spcPts val="800"/>
              </a:spcAft>
              <a:defRPr sz="2400" b="0">
                <a:solidFill>
                  <a:srgbClr val="F3F6F8"/>
                </a:solidFill>
              </a:defRPr>
            </a:pPr>
            <a:r>
              <a:t>是否确定首发架构为：</a:t>
            </a:r>
          </a:p>
          <a:p>
            <a:pPr lvl="1">
              <a:spcAft>
                <a:spcPts val="800"/>
              </a:spcAft>
              <a:defRPr sz="2000" b="0">
                <a:solidFill>
                  <a:srgbClr val="A8B7C2"/>
                </a:solidFill>
              </a:defRPr>
            </a:pPr>
            <a:r>
              <a:t>`iPhone 执行端`</a:t>
            </a:r>
          </a:p>
          <a:p>
            <a:pPr lvl="1">
              <a:spcAft>
                <a:spcPts val="800"/>
              </a:spcAft>
              <a:defRPr sz="2000" b="0">
                <a:solidFill>
                  <a:srgbClr val="A8B7C2"/>
                </a:solidFill>
              </a:defRPr>
            </a:pPr>
            <a:r>
              <a:t>`本地 Web 接收节点`</a:t>
            </a:r>
          </a:p>
          <a:p>
            <a:pPr lvl="1">
              <a:spcAft>
                <a:spcPts val="800"/>
              </a:spcAft>
              <a:defRPr sz="2000" b="0">
                <a:solidFill>
                  <a:srgbClr val="A8B7C2"/>
                </a:solidFill>
              </a:defRPr>
            </a:pPr>
            <a:r>
              <a:t>`云端 Web 业务平台`</a:t>
            </a:r>
          </a:p>
          <a:p>
            <a:pPr>
              <a:spcAft>
                <a:spcPts val="800"/>
              </a:spcAft>
              <a:defRPr sz="2400" b="0">
                <a:solidFill>
                  <a:srgbClr val="F3F6F8"/>
                </a:solidFill>
              </a:defRPr>
            </a:pPr>
            <a:r>
              <a:t>是否确定商业模式为：</a:t>
            </a:r>
          </a:p>
          <a:p>
            <a:pPr lvl="1">
              <a:spcAft>
                <a:spcPts val="800"/>
              </a:spcAft>
              <a:defRPr sz="2000" b="0">
                <a:solidFill>
                  <a:srgbClr val="A8B7C2"/>
                </a:solidFill>
              </a:defRPr>
            </a:pPr>
            <a:r>
              <a:t>平台订阅</a:t>
            </a:r>
          </a:p>
          <a:p>
            <a:pPr lvl="1">
              <a:spcAft>
                <a:spcPts val="800"/>
              </a:spcAft>
              <a:defRPr sz="2000" b="0">
                <a:solidFill>
                  <a:srgbClr val="A8B7C2"/>
                </a:solidFill>
              </a:defRPr>
            </a:pPr>
            <a:r>
              <a:t>模型授权</a:t>
            </a:r>
          </a:p>
          <a:p>
            <a:pPr lvl="1">
              <a:spcAft>
                <a:spcPts val="800"/>
              </a:spcAft>
              <a:defRPr sz="2000" b="0">
                <a:solidFill>
                  <a:srgbClr val="A8B7C2"/>
                </a:solidFill>
              </a:defRPr>
            </a:pPr>
            <a:r>
              <a:t>服务收费</a:t>
            </a:r>
          </a:p>
          <a:p>
            <a:pPr>
              <a:spcAft>
                <a:spcPts val="800"/>
              </a:spcAft>
              <a:defRPr sz="2400" b="0">
                <a:solidFill>
                  <a:srgbClr val="F3F6F8"/>
                </a:solidFill>
              </a:defRPr>
            </a:pPr>
            <a:r>
              <a:t>是否优先做 B2B，不做消费级模型商店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008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A8B7C2"/>
                </a:solidFill>
              </a:rPr>
              <a:t>11/12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6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20040"/>
            <a:ext cx="11201400" cy="640080"/>
          </a:xfrm>
          <a:prstGeom prst="rect">
            <a:avLst/>
          </a:prstGeom>
          <a:solidFill>
            <a:srgbClr val="0C1014"/>
          </a:solidFill>
          <a:ln>
            <a:solidFill>
              <a:srgbClr val="24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3200" tIns="127000"/>
          <a:lstStyle/>
          <a:p>
            <a:pPr algn="l"/>
            <a:r>
              <a:rPr sz="2800" b="1">
                <a:solidFill>
                  <a:srgbClr val="F3F6F8"/>
                </a:solidFill>
              </a:rPr>
              <a:t>11. 下一阶段建议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234440"/>
            <a:ext cx="10972800" cy="4800600"/>
          </a:xfrm>
          <a:prstGeom prst="roundRect">
            <a:avLst/>
          </a:prstGeom>
          <a:solidFill>
            <a:srgbClr val="0C1014"/>
          </a:solidFill>
          <a:ln>
            <a:solidFill>
              <a:srgbClr val="24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03200" tIns="203200" bIns="152400">
            <a:noAutofit/>
          </a:bodyPr>
          <a:lstStyle/>
          <a:p>
            <a:pPr algn="ctr">
              <a:spcAft>
                <a:spcPts val="800"/>
              </a:spcAft>
              <a:defRPr sz="2400" b="0">
                <a:solidFill>
                  <a:srgbClr val="F3F6F8"/>
                </a:solidFill>
              </a:defRPr>
            </a:pPr>
            <a:r>
              <a:t>先做老板能卖的故事，而不是先做最复杂的技术</a:t>
            </a:r>
          </a:p>
          <a:p>
            <a:pPr>
              <a:spcAft>
                <a:spcPts val="800"/>
              </a:spcAft>
              <a:defRPr sz="2400" b="0">
                <a:solidFill>
                  <a:srgbClr val="F3F6F8"/>
                </a:solidFill>
              </a:defRPr>
            </a:pPr>
            <a:r>
              <a:t>下一阶段文档和产品重点：</a:t>
            </a:r>
          </a:p>
          <a:p>
            <a:pPr lvl="1">
              <a:spcAft>
                <a:spcPts val="800"/>
              </a:spcAft>
              <a:defRPr sz="2000" b="0">
                <a:solidFill>
                  <a:srgbClr val="A8B7C2"/>
                </a:solidFill>
              </a:defRPr>
            </a:pPr>
            <a:r>
              <a:t>本地 Web 接收节点 PRD</a:t>
            </a:r>
          </a:p>
          <a:p>
            <a:pPr lvl="1">
              <a:spcAft>
                <a:spcPts val="800"/>
              </a:spcAft>
              <a:defRPr sz="2000" b="0">
                <a:solidFill>
                  <a:srgbClr val="A8B7C2"/>
                </a:solidFill>
              </a:defRPr>
            </a:pPr>
            <a:r>
              <a:t>云端授权与模型商城 PRD</a:t>
            </a:r>
          </a:p>
          <a:p>
            <a:pPr lvl="1">
              <a:spcAft>
                <a:spcPts val="800"/>
              </a:spcAft>
              <a:defRPr sz="2000" b="0">
                <a:solidFill>
                  <a:srgbClr val="A8B7C2"/>
                </a:solidFill>
              </a:defRPr>
            </a:pPr>
            <a:r>
              <a:t>iPhone 登录、下载、离线授权方案</a:t>
            </a:r>
          </a:p>
          <a:p>
            <a:pPr lvl="1">
              <a:spcAft>
                <a:spcPts val="800"/>
              </a:spcAft>
              <a:defRPr sz="2000" b="0">
                <a:solidFill>
                  <a:srgbClr val="A8B7C2"/>
                </a:solidFill>
              </a:defRPr>
            </a:pPr>
            <a:r>
              <a:t>上传 API 与补传机制</a:t>
            </a:r>
          </a:p>
          <a:p>
            <a:pPr>
              <a:spcAft>
                <a:spcPts val="800"/>
              </a:spcAft>
              <a:defRPr sz="2400" b="0">
                <a:solidFill>
                  <a:srgbClr val="F3F6F8"/>
                </a:solidFill>
              </a:defRPr>
            </a:pPr>
            <a:r>
              <a:t>目标不是“功能很多”，而是先形成一条能卖、能交付、能续费的主线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008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A8B7C2"/>
                </a:solidFill>
              </a:rPr>
              <a:t>12/12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